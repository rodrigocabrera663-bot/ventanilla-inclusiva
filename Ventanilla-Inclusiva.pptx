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D9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01168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Ventanilla Inclusiva</a:t>
            </a:r>
            <a:endParaRPr lang="en-US" sz="5000" dirty="0"/>
          </a:p>
        </p:txBody>
      </p:sp>
      <p:sp>
        <p:nvSpPr>
          <p:cNvPr id="3" name="Text 1"/>
          <p:cNvSpPr/>
          <p:nvPr/>
        </p:nvSpPr>
        <p:spPr>
          <a:xfrm>
            <a:off x="731520" y="320040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E0A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Autonomía digital para la ciudadanía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585216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Desafío 15  ·  Gobierno Regional de Cusco  ·  Hackatón Transformagob 2026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B3D9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 problema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051560"/>
            <a:ext cx="1097280" cy="45720"/>
          </a:xfrm>
          <a:prstGeom prst="rect">
            <a:avLst/>
          </a:prstGeom>
          <a:solidFill>
            <a:srgbClr val="E0A10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54480"/>
            <a:ext cx="38404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0B3D9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+4,988</a:t>
            </a:r>
            <a:endParaRPr lang="en-US" sz="6600" dirty="0"/>
          </a:p>
        </p:txBody>
      </p:sp>
      <p:sp>
        <p:nvSpPr>
          <p:cNvPr id="5" name="Text 3"/>
          <p:cNvSpPr/>
          <p:nvPr/>
        </p:nvSpPr>
        <p:spPr>
          <a:xfrm>
            <a:off x="640080" y="2788920"/>
            <a:ext cx="4023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ciudadanos con discapacidad visual en la región Cusco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0" y="1554480"/>
            <a:ext cx="64922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 usan lectores de pantalla (NVDA, JAWS, TalkBack).
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Pero la Ventanilla Virtual del GORE los bloquea: no cumple accesibilidad y no pueden ni iniciar un trámite. Hoy dependen de terceros, perdiendo autonomía y privacidad.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029200" y="3840480"/>
            <a:ext cx="73152" cy="1554480"/>
          </a:xfrm>
          <a:prstGeom prst="rect">
            <a:avLst/>
          </a:prstGeom>
          <a:solidFill>
            <a:srgbClr val="E0A100"/>
          </a:solidFill>
          <a:ln/>
        </p:spPr>
      </p:sp>
      <p:sp>
        <p:nvSpPr>
          <p:cNvPr id="8" name="Text 6"/>
          <p:cNvSpPr/>
          <p:nvPr/>
        </p:nvSpPr>
        <p:spPr>
          <a:xfrm>
            <a:off x="5303520" y="3840480"/>
            <a:ext cx="62179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"…hay partes que simplemente no puedo escuchar ni entender; por eso tengo que pedir ayuda a otra persona para hacer mis trámites."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303520" y="5120640"/>
            <a:ext cx="6217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60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Usuario con discapacidad visual, Cusco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B3D9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solución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051560"/>
            <a:ext cx="1097280" cy="45720"/>
          </a:xfrm>
          <a:prstGeom prst="rect">
            <a:avLst/>
          </a:prstGeom>
          <a:solidFill>
            <a:srgbClr val="E0A10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54480"/>
            <a:ext cx="10881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asistente conversacional guiado y accesible (WCAG 2.2) que permite a una persona ciega presentar y consultar una solicitud de acceso a información pública de forma autónoma y privada, usando su propio lector de pantalla.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40080" y="384048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0B3D91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3840480"/>
            <a:ext cx="2560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Autónomo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3429000" y="384048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0B3D91"/>
          </a:solidFill>
          <a:ln/>
        </p:spPr>
      </p:sp>
      <p:sp>
        <p:nvSpPr>
          <p:cNvPr id="8" name="Text 6"/>
          <p:cNvSpPr/>
          <p:nvPr/>
        </p:nvSpPr>
        <p:spPr>
          <a:xfrm>
            <a:off x="3429000" y="3840480"/>
            <a:ext cx="2560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Privado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6217920" y="384048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0B3D91"/>
          </a:solidFill>
          <a:ln/>
        </p:spPr>
      </p:sp>
      <p:sp>
        <p:nvSpPr>
          <p:cNvPr id="10" name="Text 8"/>
          <p:cNvSpPr/>
          <p:nvPr/>
        </p:nvSpPr>
        <p:spPr>
          <a:xfrm>
            <a:off x="6217920" y="3840480"/>
            <a:ext cx="2560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Offline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9006840" y="384048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0B3D91"/>
          </a:solidFill>
          <a:ln/>
        </p:spPr>
      </p:sp>
      <p:sp>
        <p:nvSpPr>
          <p:cNvPr id="12" name="Text 10"/>
          <p:cNvSpPr/>
          <p:nvPr/>
        </p:nvSpPr>
        <p:spPr>
          <a:xfrm>
            <a:off x="9006840" y="3840480"/>
            <a:ext cx="2560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 source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B3D9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Cómo funciona el prototipo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051560"/>
            <a:ext cx="1097280" cy="45720"/>
          </a:xfrm>
          <a:prstGeom prst="rect">
            <a:avLst/>
          </a:prstGeom>
          <a:solidFill>
            <a:srgbClr val="E0A100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1234440"/>
            <a:ext cx="640080" cy="640080"/>
          </a:xfrm>
          <a:prstGeom prst="ellipse">
            <a:avLst/>
          </a:prstGeom>
          <a:solidFill>
            <a:srgbClr val="0B3D91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2344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463040" y="11887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3D9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Trámite TUPA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463040" y="155448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60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Selección accesible del trámite (Copias, Transparencia, etc.)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240280"/>
            <a:ext cx="640080" cy="640080"/>
          </a:xfrm>
          <a:prstGeom prst="ellipse">
            <a:avLst/>
          </a:prstGeom>
          <a:solidFill>
            <a:srgbClr val="0B3D91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2402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463040" y="21945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3D9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Tus datos (RENIEC)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63040" y="256032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60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Autocompletado automático al ingresar tu DNI.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3246120"/>
            <a:ext cx="640080" cy="640080"/>
          </a:xfrm>
          <a:prstGeom prst="ellipse">
            <a:avLst/>
          </a:prstGeom>
          <a:solidFill>
            <a:srgbClr val="0B3D91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461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463040" y="32004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3D9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Documento y Carga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463040" y="356616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60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Asunto, folios y adjunto de sustento (PDF/JPG/PNG).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4251960"/>
            <a:ext cx="640080" cy="640080"/>
          </a:xfrm>
          <a:prstGeom prst="ellipse">
            <a:avLst/>
          </a:prstGeom>
          <a:solidFill>
            <a:srgbClr val="0B3D91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42519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1463040" y="42062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3D9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Forma de entrega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463040" y="457200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60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correo electrónico o recojo presencial.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0080" y="5257800"/>
            <a:ext cx="640080" cy="640080"/>
          </a:xfrm>
          <a:prstGeom prst="ellipse">
            <a:avLst/>
          </a:prstGeom>
          <a:solidFill>
            <a:srgbClr val="0B3D91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52578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1463040" y="52120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3D9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Confirmación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463040" y="55778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60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final y generación de número de expediente.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766560" y="1234440"/>
            <a:ext cx="4754880" cy="4663440"/>
          </a:xfrm>
          <a:prstGeom prst="roundRect">
            <a:avLst>
              <a:gd name="adj" fmla="val 2353"/>
            </a:avLst>
          </a:prstGeom>
          <a:solidFill>
            <a:srgbClr val="F2F5FB"/>
          </a:solidFill>
          <a:ln w="12700">
            <a:solidFill>
              <a:srgbClr val="0B3D9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040880" y="1463040"/>
            <a:ext cx="4206240" cy="4206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0B3D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Además
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🔐  Casillero Electrónico: bandeja ciudadana accesible con historial y notificaciones oficiales.
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🎙️  Comandos de voz en español (mejora manos libres)
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Audio de apoyo en quechua por cada paso del asistente
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Identificación de errores accesible (resumen y foco programado)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B3D9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Interfaz del Prototipo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051560"/>
            <a:ext cx="1097280" cy="45720"/>
          </a:xfrm>
          <a:prstGeom prst="rect">
            <a:avLst/>
          </a:prstGeom>
          <a:solidFill>
            <a:srgbClr val="E0A100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1463040"/>
            <a:ext cx="5120640" cy="4663440"/>
          </a:xfrm>
          <a:prstGeom prst="roundRect">
            <a:avLst>
              <a:gd name="adj" fmla="val 2353"/>
            </a:avLst>
          </a:prstGeom>
          <a:solidFill>
            <a:srgbClr val="F2F5FB"/>
          </a:solidFill>
          <a:ln/>
        </p:spPr>
      </p:sp>
      <p:pic>
        <p:nvPicPr>
          <p:cNvPr id="5" name="Image 0" descr="screenshot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737360"/>
            <a:ext cx="4572000" cy="32004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5120640"/>
            <a:ext cx="5120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Pantalla de inicio y Casillero Electrónico accesible.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6400800" y="1463040"/>
            <a:ext cx="5120640" cy="4663440"/>
          </a:xfrm>
          <a:prstGeom prst="roundRect">
            <a:avLst>
              <a:gd name="adj" fmla="val 2353"/>
            </a:avLst>
          </a:prstGeom>
          <a:solidFill>
            <a:srgbClr val="F2F5FB"/>
          </a:solidFill>
          <a:ln/>
        </p:spPr>
      </p:sp>
      <p:pic>
        <p:nvPicPr>
          <p:cNvPr id="8" name="Image 1" descr="screenshot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737360"/>
            <a:ext cx="4572000" cy="32004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400800" y="5120640"/>
            <a:ext cx="5120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Asistente conversacional con soporte de voz y audio en quechua.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B3D9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Valor público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051560"/>
            <a:ext cx="1097280" cy="45720"/>
          </a:xfrm>
          <a:prstGeom prst="rect">
            <a:avLst/>
          </a:prstGeom>
          <a:solidFill>
            <a:srgbClr val="E0A100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1645920"/>
            <a:ext cx="5303520" cy="1828800"/>
          </a:xfrm>
          <a:prstGeom prst="roundRect">
            <a:avLst>
              <a:gd name="adj" fmla="val 6000"/>
            </a:avLst>
          </a:prstGeom>
          <a:solidFill>
            <a:srgbClr val="F2F5FB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87452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3D9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Autonomía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914400" y="2514600"/>
            <a:ext cx="4754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Hacen trámites sin depender de nadie.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217920" y="1645920"/>
            <a:ext cx="5303520" cy="1828800"/>
          </a:xfrm>
          <a:prstGeom prst="roundRect">
            <a:avLst>
              <a:gd name="adj" fmla="val 6000"/>
            </a:avLst>
          </a:prstGeom>
          <a:solidFill>
            <a:srgbClr val="F2F5FB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0" y="187452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3D9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Privacidad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492240" y="2514600"/>
            <a:ext cx="4754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 datos no salen del dispositivo.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" y="3749040"/>
            <a:ext cx="5303520" cy="1828800"/>
          </a:xfrm>
          <a:prstGeom prst="roundRect">
            <a:avLst>
              <a:gd name="adj" fmla="val 6000"/>
            </a:avLst>
          </a:prstGeom>
          <a:solidFill>
            <a:srgbClr val="F2F5FB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397764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3D9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Inclusión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914400" y="4617720"/>
            <a:ext cx="4754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Pensado también para hablantes de quechua.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217920" y="3749040"/>
            <a:ext cx="5303520" cy="1828800"/>
          </a:xfrm>
          <a:prstGeom prst="roundRect">
            <a:avLst>
              <a:gd name="adj" fmla="val 6000"/>
            </a:avLst>
          </a:prstGeom>
          <a:solidFill>
            <a:srgbClr val="F2F5FB"/>
          </a:solidFill>
          <a:ln/>
        </p:spPr>
      </p:sp>
      <p:sp>
        <p:nvSpPr>
          <p:cNvPr id="14" name="Text 12"/>
          <p:cNvSpPr/>
          <p:nvPr/>
        </p:nvSpPr>
        <p:spPr>
          <a:xfrm>
            <a:off x="6492240" y="397764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3D9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Transparencia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6492240" y="4617720"/>
            <a:ext cx="4754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Garantiza el derecho a la información pública.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B3D9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Apertura, reutilización y ética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051560"/>
            <a:ext cx="1097280" cy="45720"/>
          </a:xfrm>
          <a:prstGeom prst="rect">
            <a:avLst/>
          </a:prstGeom>
          <a:solidFill>
            <a:srgbClr val="E0A100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1645920"/>
            <a:ext cx="5303520" cy="1828800"/>
          </a:xfrm>
          <a:prstGeom prst="roundRect">
            <a:avLst>
              <a:gd name="adj" fmla="val 6000"/>
            </a:avLst>
          </a:prstGeom>
          <a:solidFill>
            <a:srgbClr val="F2F5FB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87452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3D9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Licencia Libre (MIT)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914400" y="2514600"/>
            <a:ext cx="4754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100% abierto que el GORE Cusco puede adoptar, mejorar y desplegar legalmente (D.L. 1412, art. 29).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217920" y="1645920"/>
            <a:ext cx="5303520" cy="1828800"/>
          </a:xfrm>
          <a:prstGeom prst="roundRect">
            <a:avLst>
              <a:gd name="adj" fmla="val 6000"/>
            </a:avLst>
          </a:prstGeom>
          <a:solidFill>
            <a:srgbClr val="F2F5FB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0" y="187452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3D9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Diseño Reutilizable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92240" y="2514600"/>
            <a:ext cx="4754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Componentes modulares de accesibilidad (stepper, forms) listos para integrarse a los sistemas actuales del GRC.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640080" y="3749040"/>
            <a:ext cx="5303520" cy="1828800"/>
          </a:xfrm>
          <a:prstGeom prst="roundRect">
            <a:avLst>
              <a:gd name="adj" fmla="val 6000"/>
            </a:avLst>
          </a:prstGeom>
          <a:solidFill>
            <a:srgbClr val="F2F5FB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397764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3D9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Privacidad por Diseño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914400" y="4617720"/>
            <a:ext cx="4754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100% sintéticos. Sin IA en la nube, sin datos personales y operable de forma local (offline).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6217920" y="3749040"/>
            <a:ext cx="5303520" cy="1828800"/>
          </a:xfrm>
          <a:prstGeom prst="roundRect">
            <a:avLst>
              <a:gd name="adj" fmla="val 6000"/>
            </a:avLst>
          </a:prstGeom>
          <a:solidFill>
            <a:srgbClr val="F2F5FB"/>
          </a:solidFill>
          <a:ln/>
        </p:spPr>
      </p:sp>
      <p:sp>
        <p:nvSpPr>
          <p:cNvPr id="14" name="Text 12"/>
          <p:cNvSpPr/>
          <p:nvPr/>
        </p:nvSpPr>
        <p:spPr>
          <a:xfrm>
            <a:off x="6492240" y="397764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3D9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Cumplimiento de Estándares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92240" y="4617720"/>
            <a:ext cx="4754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Alineado a las pautas WCAG 2.2, Ley N° 29973 (Discapacidad) y Ley N° 29733 (Datos Personales).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B3D9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Riesgos y mitigación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051560"/>
            <a:ext cx="1097280" cy="45720"/>
          </a:xfrm>
          <a:prstGeom prst="rect">
            <a:avLst/>
          </a:prstGeom>
          <a:solidFill>
            <a:srgbClr val="E0A100"/>
          </a:solidFill>
          <a:ln/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45920"/>
          <a:ext cx="1088136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6309360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Riesgo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Mitigación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D9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Accesibilidad mal hecha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Probado con NVDA + auditoría WCAG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B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Dependencia de software cerrado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Solo open source, sin IA en la nube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Datos sensibles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Datos sintéticos; nada sale del dispositivo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B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Voz en la nube (Chrome)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Opcional; Vosk offline para producción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B3D9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Próximos pasos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051560"/>
            <a:ext cx="1097280" cy="45720"/>
          </a:xfrm>
          <a:prstGeom prst="rect">
            <a:avLst/>
          </a:prstGeom>
          <a:solidFill>
            <a:srgbClr val="E0A100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737360"/>
            <a:ext cx="105156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79400" indent="-279400">
              <a:lnSpc>
                <a:spcPct val="110000"/>
              </a:lnSpc>
              <a:buSzPct val="100000"/>
              <a:buChar char="•"/>
            </a:pPr>
            <a:r>
              <a:rPr lang="en-US" sz="2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Grabar el audio en quechua con hablante nativo (Qosqo-Qollaw) y validarlo en campo.
</a:t>
            </a:r>
            <a:pPr indent="0" marL="0">
              <a:lnSpc>
                <a:spcPct val="110000"/>
              </a:lnSpc>
              <a:buNone/>
            </a:pPr>
            <a:r>
              <a:rPr lang="en-US" sz="2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Reconocimiento de voz offline con Vosk (open source) para producción.
</a:t>
            </a:r>
            <a:pPr indent="0" marL="0">
              <a:lnSpc>
                <a:spcPct val="110000"/>
              </a:lnSpc>
              <a:buNone/>
            </a:pPr>
            <a:r>
              <a:rPr lang="en-US" sz="2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Canal por Telegram con mensajes de voz nativos.
</a:t>
            </a:r>
            <a:pPr indent="0" marL="0">
              <a:lnSpc>
                <a:spcPct val="110000"/>
              </a:lnSpc>
              <a:buNone/>
            </a:pPr>
            <a:r>
              <a:rPr lang="en-US" sz="2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 real con el sistema Qellqa y autenticación con DNI accesible.</a:t>
            </a:r>
            <a:endParaRPr lang="en-US" sz="2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3D9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103120"/>
            <a:ext cx="103327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"Una ventanilla que funciona con las herramientas que la ciudadanía ya usa."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5212080"/>
            <a:ext cx="5486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E0A1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Gracias.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Ventanilla Inclusiva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Pillaca cabrera Rodrigo Gerardo</dc:creator>
  <cp:lastModifiedBy>Pillaca cabrera Rodrigo Gerardo</cp:lastModifiedBy>
  <cp:revision>1</cp:revision>
  <dcterms:created xsi:type="dcterms:W3CDTF">2026-06-15T04:27:08Z</dcterms:created>
  <dcterms:modified xsi:type="dcterms:W3CDTF">2026-06-15T04:27:08Z</dcterms:modified>
</cp:coreProperties>
</file>